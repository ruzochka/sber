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FC763-65A2-2E7A-A042-904406170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11BFDA-6A4E-C535-5246-9BF38006D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C26CE-B44B-8832-5279-A011CDDB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A8330E-3A5C-74D7-A10E-8D408DD1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B9600F-1EEB-3539-A39D-249A948C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26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3A5BC-4A9E-59EF-08F3-F28E8282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7B559-3E10-17DC-319E-AB8B9BBBE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C7EE00-72E3-43F5-B0F9-A07D904E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E4E3A5-4E93-1E25-E426-91C10A8B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C8618-4B67-869E-1B7B-7438FF7B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3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6B89D-4BB6-8BC0-80E9-18F17379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046171-2852-742E-24C2-AE0EC97D8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0DFDBF-6923-08FA-E24D-82237C12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8D052-DCE1-2D07-B2C8-998695AEB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DEC3F0-3DE0-27A1-299E-2D2874EB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9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CDD15-35EB-2657-859E-FC9E998D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A7D964-5335-4792-F6D0-53F08D846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8FFC08-3215-E95B-0B49-C0291E734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B0721F-D92F-07E8-269F-18B7FE24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211FDD-672E-7F2A-AF73-8EA623F0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999804-1BA4-03EF-AEB4-89EC4B2A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46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84D04-698E-419A-182D-DE19A6A7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8C48A-2F12-940C-A875-DCDAA947B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0E8D63-BD76-4BD9-D70B-46E594F69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73DAAB-2399-4588-39CC-DEF8B6437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77F19A-ADAF-BE68-2C38-BD0BAACB9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F04E130-6316-C2CC-5099-DD105396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D45815-879A-797C-8320-B29F75FD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64E1BA-AFB7-0922-5196-FF36394A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79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C91BA-9925-E6C6-96FE-9D07F286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C6E769-CB89-FC89-2FA4-8DBD845A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CEBCFB-183F-240F-01AF-86E4C729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05A6D0-E53C-3732-DEFD-D2AAE9B9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42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9CE5E4-253F-CC9D-E694-74D0B12F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42C69B-C8EF-9778-15E4-D1876767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BBA578-0152-D1F1-73C3-CC5821D4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17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A0F4F-8868-6B52-6D01-FEA0C772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69D196-9C24-10AB-32EE-B13B6A4E2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7CEC33-379D-9CCA-D13C-36E2A91B4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462DB3-2C5C-98CC-0E24-EA380654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DE3F3C-0BBD-299F-EC41-A40BB662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88BE22-178D-5362-BAD6-52CFD446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51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DD528-0E8B-8262-85B2-71303547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A02D7B-5E9A-65B1-964C-D382C820B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D1CF68-CED7-D9EB-1F7D-D3034AF61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7E9879-AD0F-B568-CDAE-FB2D7BA8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BC4EF9-1946-E074-61EA-A4E78A6D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8C06CD-E87E-78A2-9132-0A7CFD67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1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E5E5E-AE90-4560-8090-91DFE77E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15870C-FFCE-67FE-A18E-1A0A0F4A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5B2374-81CA-EA17-8178-00E9C1E6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EBCE0A-1A07-8F75-ADE1-EE3C13C7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FA8B93-F02B-A953-5AAB-D0B8BEC2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52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1E9CB48-5AF3-49DB-4CD1-2C2686874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4AB973-78A5-5153-B0BC-BC498E148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66F73F-27C6-78A6-B918-DED20264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AEBE11-A2CF-FDD5-BFFA-0EF0D40E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37C2E2-0F5C-E4E8-B383-E87FE241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09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71AE1-6455-132C-07ED-8C010A0A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0FAE8-CCF6-C3CE-8265-DA388767C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356052-3A81-E0F0-E87A-D701B6B86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4368-6D73-4687-8EB5-789C6FCA2A92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7A7ADC-F823-7F86-8E9E-0341BB9F0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498F9-FC9E-CEAB-15FA-52B80CC0F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75BEA-F862-453D-8CDC-E8990B2C8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22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654C6-803E-2D5E-1443-56614C201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потребительских расходов </a:t>
            </a:r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СберИндекса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раннее обнаружение шоков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592C35-DF6B-C779-AD6A-4437371F42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Двухстадийный алгоритм на базе PELT (RBF)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интеграцией новостных факторов и мульти-источников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СберИндекса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71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48297"/>
            <a:ext cx="10515600" cy="11334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Бизнес-цель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679033"/>
            <a:ext cx="10515600" cy="3410618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 Прогнозирование расходов МО на 1, 3, 6, 12 месяцев и предупреждение макроэкономических/локальных шоков.</a:t>
            </a:r>
            <a:endParaRPr lang="en-US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стандартных моделей: Классические модели (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пасуют при резких изломах тренда и не учитывают пространственную связность территорий.</a:t>
            </a:r>
          </a:p>
        </p:txBody>
      </p:sp>
    </p:spTree>
    <p:extLst>
      <p:ext uri="{BB962C8B-B14F-4D97-AF65-F5344CB8AC3E}">
        <p14:creationId xmlns:p14="http://schemas.microsoft.com/office/powerpoint/2010/main" val="82610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48297"/>
            <a:ext cx="10515600" cy="11334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данных: Объединение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consumption.parquet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market_access.parquet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connection.parquet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новостного индекса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Sentiment.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 стадии): </a:t>
            </a:r>
          </a:p>
          <a:p>
            <a:pPr marL="514350" indent="-514350">
              <a:buAutoNum type="arabicPeriod"/>
            </a:pP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 (Change Point Detection):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точек излома тренда через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PELT (ruptures).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 (Forecasting):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Градиентный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over-features (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лаги, скользящие окна, флаговые индикаторы шоков).</a:t>
            </a:r>
          </a:p>
        </p:txBody>
      </p:sp>
    </p:spTree>
    <p:extLst>
      <p:ext uri="{BB962C8B-B14F-4D97-AF65-F5344CB8AC3E}">
        <p14:creationId xmlns:p14="http://schemas.microsoft.com/office/powerpoint/2010/main" val="2722388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48297"/>
            <a:ext cx="10515600" cy="11334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Детекция шоков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метод: PELT с RBF-ядром (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3.0,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min_size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2).- 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Автоматическая локализация точек смены экономического режима (выявлено 988 структурных сдвигов).</a:t>
            </a:r>
          </a:p>
          <a:p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модель: Передача бинарных флагов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is_shock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интервалов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months_since_last_shock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признаковое пространство.</a:t>
            </a:r>
          </a:p>
        </p:txBody>
      </p:sp>
    </p:spTree>
    <p:extLst>
      <p:ext uri="{BB962C8B-B14F-4D97-AF65-F5344CB8AC3E}">
        <p14:creationId xmlns:p14="http://schemas.microsoft.com/office/powerpoint/2010/main" val="168461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сравнения моделей прогнозирования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 fontScale="92500"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по метрикам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(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тестовая выборка 12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 1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MAE = 185.49 (R² = 0.997) vs Prophet MAE = 9 893.74 (R² = -0.103) 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 3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MAE = 117.37 (R² = 0.998) vs Prophet MAE = 9 722.89 (R² = 0.012) 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Горизонт 6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MAE = 120.81 (R² = 0.997) vs Prophet MAE = 10 506.44 (R² = -0.064)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превосходство по точности (снижение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более чем в 50 раз по сравнению с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Prophet).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33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фундаментальными моделями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Chronos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TimesFM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Zero-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фундаментальные модели не поддерживают пространственные и новостные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ковариаты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без сложного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 Специализированный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признаками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СберИндекса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существенно превосходит универсальные TSFM на локальных муниципальных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44371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новостного фона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 Извлечение тональности (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Score) -&gt; EMA-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сглаживание затухания шока -&gt; Пространственно-временная привязка к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territory_id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дате.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затухания: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S_smoothed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 = alpha * S(t) + (1 - alpha) * 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S_smoothed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(t-1)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98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результатов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 lnSpcReduction="10000"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поведения моделей в точке структурного сдвига (спад расходов на 38% из-за внешнего шока)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Фактический расход в точке шока: 10 500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(учитывает флаг PELT): 10 710 (Ошибка MAE: 210)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(экстраполяция старого тренда): 22 900 (Ошибка MAE: 12 400)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Учет флага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is_shock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мгновенно корректирует прогноз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 наступлении излома.</a:t>
            </a:r>
          </a:p>
        </p:txBody>
      </p:sp>
    </p:spTree>
    <p:extLst>
      <p:ext uri="{BB962C8B-B14F-4D97-AF65-F5344CB8AC3E}">
        <p14:creationId xmlns:p14="http://schemas.microsoft.com/office/powerpoint/2010/main" val="1914385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Воспроизводимость и конфигурация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Прозрачность: Все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гиперпараметры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параметры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PELT 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зафиксированы в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config/</a:t>
            </a:r>
            <a:r>
              <a:rPr lang="en-US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config.yaml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Модульная структура: Четкое разделение на </a:t>
            </a:r>
            <a:r>
              <a:rPr lang="en-US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data_loader.py, change_point.py, models.py, evaluation.py.</a:t>
            </a:r>
            <a:endParaRPr lang="ru-RU" sz="2800" kern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60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53A3-E616-061A-6390-178CBDE7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1834"/>
            <a:ext cx="10515600" cy="1658019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C7AA3-EF29-DF75-D7B3-79F72573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6316"/>
            <a:ext cx="10515600" cy="3994483"/>
          </a:xfrm>
        </p:spPr>
        <p:txBody>
          <a:bodyPr>
            <a:normAutofit/>
          </a:bodyPr>
          <a:lstStyle/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готовая, воспроизводимая система прогнозирования и предупреждения шоков.</a:t>
            </a:r>
          </a:p>
          <a:p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полностью выполнила критерий превосходства над </a:t>
            </a:r>
            <a:r>
              <a:rPr lang="ru-RU" sz="2800" kern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r>
              <a:rPr lang="ru-RU" sz="2800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всех рабочих горизонтах.</a:t>
            </a:r>
          </a:p>
        </p:txBody>
      </p:sp>
    </p:spTree>
    <p:extLst>
      <p:ext uri="{BB962C8B-B14F-4D97-AF65-F5344CB8AC3E}">
        <p14:creationId xmlns:p14="http://schemas.microsoft.com/office/powerpoint/2010/main" val="25082502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535</Words>
  <Application>Microsoft Office PowerPoint</Application>
  <PresentationFormat>Широкоэкранный</PresentationFormat>
  <Paragraphs>39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Тема Office</vt:lpstr>
      <vt:lpstr>Прогнозирование потребительских расходов СберИндекса и раннее обнаружение шоков</vt:lpstr>
      <vt:lpstr>Проблема и Бизнес-цель</vt:lpstr>
      <vt:lpstr>Архитектура решения</vt:lpstr>
      <vt:lpstr>Детекция шоков</vt:lpstr>
      <vt:lpstr>Результаты сравнения моделей прогнозирования</vt:lpstr>
      <vt:lpstr>Сравнение с фундаментальными моделями</vt:lpstr>
      <vt:lpstr>Интеграция новостного фона</vt:lpstr>
      <vt:lpstr>Интерпретация результатов</vt:lpstr>
      <vt:lpstr>Воспроизводимость и конфигурация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</dc:creator>
  <cp:lastModifiedBy>Дарья</cp:lastModifiedBy>
  <cp:revision>1</cp:revision>
  <dcterms:created xsi:type="dcterms:W3CDTF">2026-10-08T19:48:18Z</dcterms:created>
  <dcterms:modified xsi:type="dcterms:W3CDTF">2026-10-08T19:59:12Z</dcterms:modified>
</cp:coreProperties>
</file>